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695" cy="6858000"/>
  <p:notesSz cx="6858000" cy="12191695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4837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40439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129014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3698618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379372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66280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502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5739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51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643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9397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32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0537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6551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82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9559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6660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685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34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3790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1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773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1763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536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5723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5074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734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008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5911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696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445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615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509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2095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890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bg>
      <p:bgPr shadeToTitle="0">
        <a:solidFill>
          <a:srgbClr val="1214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2309521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81159145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2">
    <p:bg>
      <p:bgPr shadeToTitle="0">
        <a:solidFill>
          <a:srgbClr val="1214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4793959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779" name="Text 0"/>
          <p:cNvSpPr/>
          <p:nvPr/>
        </p:nvSpPr>
        <p:spPr bwMode="auto">
          <a:xfrm>
            <a:off x="609585" y="534353"/>
            <a:ext cx="711182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52">
                <a:solidFill>
                  <a:srgbClr val="5AD4E6"/>
                </a:solidFill>
                <a:latin typeface="JetBrains Mono SemiBold"/>
                <a:ea typeface="JetBrains Mono SemiBold"/>
                <a:cs typeface="JetBrains Mono SemiBold"/>
              </a:rPr>
              <a:t>CC&gt;_</a:t>
            </a:r>
            <a:r>
              <a:rPr lang="en-US" sz="1050" spc="52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 /propuesta/control-asistencia</a:t>
            </a:r>
            <a:endParaRPr lang="en-US" sz="1050"/>
          </a:p>
        </p:txBody>
      </p:sp>
      <p:sp>
        <p:nvSpPr>
          <p:cNvPr id="1696219867" name="Text 1"/>
          <p:cNvSpPr/>
          <p:nvPr/>
        </p:nvSpPr>
        <p:spPr bwMode="auto">
          <a:xfrm>
            <a:off x="609585" y="1093093"/>
            <a:ext cx="680703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4600" b="1" spc="-115">
                <a:solidFill>
                  <a:srgbClr val="F2F0E8"/>
                </a:solidFill>
                <a:latin typeface="JetBrains Mono Bold"/>
                <a:ea typeface="JetBrains Mono Bold"/>
                <a:cs typeface="JetBrains Mono Bold"/>
              </a:rPr>
              <a:t>HAMELÍN RH</a:t>
            </a:r>
            <a:endParaRPr lang="en-US" sz="4600"/>
          </a:p>
        </p:txBody>
      </p:sp>
      <p:sp>
        <p:nvSpPr>
          <p:cNvPr id="1948579437" name="Text 2"/>
          <p:cNvSpPr/>
          <p:nvPr/>
        </p:nvSpPr>
        <p:spPr bwMode="auto">
          <a:xfrm>
            <a:off x="609585" y="1816993"/>
            <a:ext cx="68070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3000" spc="180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CONTROL DE ASISTENCIA Y PRENÓMINA PARA COOL CIRCLE</a:t>
            </a:r>
            <a:endParaRPr lang="en-US" sz="3000"/>
          </a:p>
        </p:txBody>
      </p:sp>
      <p:sp>
        <p:nvSpPr>
          <p:cNvPr id="15970478" name="Text 3"/>
          <p:cNvSpPr/>
          <p:nvPr/>
        </p:nvSpPr>
        <p:spPr bwMode="auto">
          <a:xfrm>
            <a:off x="609585" y="2720280"/>
            <a:ext cx="6807030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8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Propuesta técnica y operativa para 85 empleados · v1.0</a:t>
            </a:r>
            <a:endParaRPr lang="en-US" sz="1800"/>
          </a:p>
        </p:txBody>
      </p:sp>
      <p:sp>
        <p:nvSpPr>
          <p:cNvPr id="1155358806" name="Text 4"/>
          <p:cNvSpPr/>
          <p:nvPr/>
        </p:nvSpPr>
        <p:spPr bwMode="auto">
          <a:xfrm>
            <a:off x="304792" y="3613567"/>
            <a:ext cx="769521" cy="182860"/>
          </a:xfrm>
          <a:prstGeom prst="rect">
            <a:avLst/>
          </a:prstGeom>
          <a:noFill/>
          <a:ln/>
        </p:spPr>
        <p:txBody>
          <a:bodyPr wrap="none" lIns="22859" tIns="0" rIns="22859" bIns="0" rtlCol="0" anchor="t"/>
          <a:lstStyle/>
          <a:p>
            <a:pPr marL="0" indent="0" algn="ctr">
              <a:lnSpc>
                <a:spcPct val="80000"/>
              </a:lnSpc>
              <a:buNone/>
              <a:defRPr/>
            </a:pPr>
            <a:r>
              <a:rPr lang="en-US" sz="1500">
                <a:solidFill>
                  <a:srgbClr val="121417"/>
                </a:solidFill>
                <a:latin typeface="JetBrains Mono"/>
                <a:ea typeface="JetBrains Mono"/>
                <a:cs typeface="JetBrains Mono"/>
              </a:rPr>
              <a:t>█</a:t>
            </a:r>
            <a:endParaRPr lang="en-US" sz="1500"/>
          </a:p>
        </p:txBody>
      </p:sp>
      <p:sp>
        <p:nvSpPr>
          <p:cNvPr id="774460045" name="Text 5"/>
          <p:cNvSpPr/>
          <p:nvPr/>
        </p:nvSpPr>
        <p:spPr bwMode="auto">
          <a:xfrm>
            <a:off x="609585" y="6164322"/>
            <a:ext cx="711182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sistema: escritorio + api privada · motor: postgresql central · fecha: 2026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77425" name="Text 0"/>
          <p:cNvSpPr/>
          <p:nvPr/>
        </p:nvSpPr>
        <p:spPr bwMode="auto"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/arquitectura/sistema · v1.0</a:t>
            </a:r>
            <a:endParaRPr lang="en-US" sz="1050"/>
          </a:p>
        </p:txBody>
      </p:sp>
      <p:sp>
        <p:nvSpPr>
          <p:cNvPr id="1462852953" name="Text 1"/>
          <p:cNvSpPr/>
          <p:nvPr/>
        </p:nvSpPr>
        <p:spPr bwMode="auto">
          <a:xfrm>
            <a:off x="609585" y="1150243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2800" spc="168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UNA APP DE ESCRITORIO CON BASE CENTRAL PARA ~85 EMPLEADOS</a:t>
            </a:r>
            <a:endParaRPr lang="en-US" sz="2800"/>
          </a:p>
        </p:txBody>
      </p:sp>
      <p:pic>
        <p:nvPicPr>
          <p:cNvPr id="104914593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585" y="2005905"/>
            <a:ext cx="10972526" cy="3714750"/>
          </a:xfrm>
          <a:prstGeom prst="rect">
            <a:avLst/>
          </a:prstGeom>
        </p:spPr>
      </p:pic>
      <p:sp>
        <p:nvSpPr>
          <p:cNvPr id="1720668949" name="Text 2"/>
          <p:cNvSpPr/>
          <p:nvPr/>
        </p:nvSpPr>
        <p:spPr bwMode="auto">
          <a:xfrm>
            <a:off x="609585" y="5848608"/>
            <a:ext cx="512045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26">
                <a:solidFill>
                  <a:srgbClr val="B6E35A"/>
                </a:solidFill>
                <a:latin typeface="JetBrains Mono"/>
                <a:ea typeface="JetBrains Mono"/>
                <a:cs typeface="JetBrains Mono"/>
              </a:rPr>
              <a:t>AISLAMIENTO ESTRICTO</a:t>
            </a:r>
            <a:r>
              <a:rPr lang="en-US" sz="1050" spc="26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 · Los clientes jamás tocan PostgreSQL directamente</a:t>
            </a:r>
            <a:endParaRPr lang="en-US" sz="1050"/>
          </a:p>
        </p:txBody>
      </p:sp>
      <p:sp>
        <p:nvSpPr>
          <p:cNvPr id="1378804792" name="Text 3"/>
          <p:cNvSpPr/>
          <p:nvPr/>
        </p:nvSpPr>
        <p:spPr bwMode="auto">
          <a:xfrm>
            <a:off x="7352322" y="5848608"/>
            <a:ext cx="42297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13 módulos · 5 departamentos · ~85 empleados activos</a:t>
            </a:r>
            <a:endParaRPr lang="en-US" sz="1050"/>
          </a:p>
        </p:txBody>
      </p:sp>
      <p:sp>
        <p:nvSpPr>
          <p:cNvPr id="1553072238" name="Text 4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02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066739" name="Text 0"/>
          <p:cNvSpPr/>
          <p:nvPr/>
        </p:nvSpPr>
        <p:spPr bwMode="auto"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/flujo/prenomina · 6 pasos</a:t>
            </a:r>
            <a:endParaRPr lang="en-US" sz="1050"/>
          </a:p>
        </p:txBody>
      </p:sp>
      <p:sp>
        <p:nvSpPr>
          <p:cNvPr id="1731102674" name="Text 1"/>
          <p:cNvSpPr/>
          <p:nvPr/>
        </p:nvSpPr>
        <p:spPr bwMode="auto">
          <a:xfrm>
            <a:off x="609585" y="1150243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2800" spc="168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DEL REGISTRO A LA PRENÓMINA EN SEIS PASOS</a:t>
            </a:r>
            <a:endParaRPr lang="en-US" sz="2800"/>
          </a:p>
        </p:txBody>
      </p:sp>
      <p:sp>
        <p:nvSpPr>
          <p:cNvPr id="785273788" name="Text 2"/>
          <p:cNvSpPr/>
          <p:nvPr/>
        </p:nvSpPr>
        <p:spPr bwMode="auto">
          <a:xfrm>
            <a:off x="609585" y="165030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500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01</a:t>
            </a:r>
            <a:endParaRPr lang="en-US" sz="1500"/>
          </a:p>
        </p:txBody>
      </p:sp>
      <p:sp>
        <p:nvSpPr>
          <p:cNvPr id="455794282" name="Shape 3"/>
          <p:cNvSpPr/>
          <p:nvPr/>
        </p:nvSpPr>
        <p:spPr bwMode="auto">
          <a:xfrm>
            <a:off x="609585" y="1917005"/>
            <a:ext cx="3428914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378143802" name="Text 4"/>
          <p:cNvSpPr/>
          <p:nvPr/>
        </p:nvSpPr>
        <p:spPr bwMode="auto">
          <a:xfrm>
            <a:off x="609585" y="2018288"/>
            <a:ext cx="34289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CHECADOR</a:t>
            </a:r>
            <a:endParaRPr lang="en-US" sz="1700"/>
          </a:p>
        </p:txBody>
      </p:sp>
      <p:sp>
        <p:nvSpPr>
          <p:cNvPr id="634767953" name="Text 5"/>
          <p:cNvSpPr/>
          <p:nvPr/>
        </p:nvSpPr>
        <p:spPr bwMode="auto">
          <a:xfrm>
            <a:off x="609585" y="2426196"/>
            <a:ext cx="342891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2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Registro de entrada y salida con marca temporal exacta.</a:t>
            </a:r>
            <a:endParaRPr lang="en-US" sz="1200"/>
          </a:p>
        </p:txBody>
      </p:sp>
      <p:sp>
        <p:nvSpPr>
          <p:cNvPr id="1402523235" name="Text 6"/>
          <p:cNvSpPr/>
          <p:nvPr/>
        </p:nvSpPr>
        <p:spPr bwMode="auto">
          <a:xfrm>
            <a:off x="4495688" y="165030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500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02</a:t>
            </a:r>
            <a:endParaRPr lang="en-US" sz="1500"/>
          </a:p>
        </p:txBody>
      </p:sp>
      <p:sp>
        <p:nvSpPr>
          <p:cNvPr id="278643599" name="Shape 7"/>
          <p:cNvSpPr/>
          <p:nvPr/>
        </p:nvSpPr>
        <p:spPr bwMode="auto">
          <a:xfrm>
            <a:off x="4495688" y="1917005"/>
            <a:ext cx="3200320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749440145" name="Text 8"/>
          <p:cNvSpPr/>
          <p:nvPr/>
        </p:nvSpPr>
        <p:spPr bwMode="auto">
          <a:xfrm>
            <a:off x="4495688" y="2018288"/>
            <a:ext cx="320032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INCIDENCIAS</a:t>
            </a:r>
            <a:endParaRPr lang="en-US" sz="1700"/>
          </a:p>
        </p:txBody>
      </p:sp>
      <p:sp>
        <p:nvSpPr>
          <p:cNvPr id="1634325836" name="Text 9"/>
          <p:cNvSpPr/>
          <p:nvPr/>
        </p:nvSpPr>
        <p:spPr bwMode="auto">
          <a:xfrm>
            <a:off x="4495688" y="2426196"/>
            <a:ext cx="3200320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2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Evaluación automática contra turno y tolerancia de 10 min.</a:t>
            </a:r>
            <a:endParaRPr lang="en-US" sz="1200"/>
          </a:p>
        </p:txBody>
      </p:sp>
      <p:sp>
        <p:nvSpPr>
          <p:cNvPr id="569907837" name="Text 10"/>
          <p:cNvSpPr/>
          <p:nvPr/>
        </p:nvSpPr>
        <p:spPr bwMode="auto">
          <a:xfrm>
            <a:off x="8153196" y="165030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500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03</a:t>
            </a:r>
            <a:endParaRPr lang="en-US" sz="1500"/>
          </a:p>
        </p:txBody>
      </p:sp>
      <p:sp>
        <p:nvSpPr>
          <p:cNvPr id="2063287850" name="Shape 11"/>
          <p:cNvSpPr/>
          <p:nvPr/>
        </p:nvSpPr>
        <p:spPr bwMode="auto">
          <a:xfrm>
            <a:off x="8153196" y="1917005"/>
            <a:ext cx="3428914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695462500" name="Text 12"/>
          <p:cNvSpPr/>
          <p:nvPr/>
        </p:nvSpPr>
        <p:spPr bwMode="auto">
          <a:xfrm>
            <a:off x="8153196" y="2018288"/>
            <a:ext cx="34289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JUSTIFICANTE</a:t>
            </a:r>
            <a:endParaRPr lang="en-US" sz="1700"/>
          </a:p>
        </p:txBody>
      </p:sp>
      <p:sp>
        <p:nvSpPr>
          <p:cNvPr id="890542957" name="Text 13"/>
          <p:cNvSpPr/>
          <p:nvPr/>
        </p:nvSpPr>
        <p:spPr bwMode="auto">
          <a:xfrm>
            <a:off x="8153196" y="2426196"/>
            <a:ext cx="342891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2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Captura con estado pendiente, aprobada o rechazada con motivo.</a:t>
            </a:r>
            <a:endParaRPr lang="en-US" sz="1200"/>
          </a:p>
        </p:txBody>
      </p:sp>
      <p:sp>
        <p:nvSpPr>
          <p:cNvPr id="1652035955" name="Text 14"/>
          <p:cNvSpPr/>
          <p:nvPr/>
        </p:nvSpPr>
        <p:spPr bwMode="auto">
          <a:xfrm>
            <a:off x="609585" y="332531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500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04</a:t>
            </a:r>
            <a:endParaRPr lang="en-US" sz="1500"/>
          </a:p>
        </p:txBody>
      </p:sp>
      <p:sp>
        <p:nvSpPr>
          <p:cNvPr id="1554013542" name="Shape 15"/>
          <p:cNvSpPr/>
          <p:nvPr/>
        </p:nvSpPr>
        <p:spPr bwMode="auto">
          <a:xfrm>
            <a:off x="609585" y="3592016"/>
            <a:ext cx="3428914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526803257" name="Text 16"/>
          <p:cNvSpPr/>
          <p:nvPr/>
        </p:nvSpPr>
        <p:spPr bwMode="auto">
          <a:xfrm>
            <a:off x="609585" y="3693299"/>
            <a:ext cx="34289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REVISIÓN</a:t>
            </a:r>
            <a:endParaRPr lang="en-US" sz="1700"/>
          </a:p>
        </p:txBody>
      </p:sp>
      <p:sp>
        <p:nvSpPr>
          <p:cNvPr id="1137553997" name="Text 17"/>
          <p:cNvSpPr/>
          <p:nvPr/>
        </p:nvSpPr>
        <p:spPr bwMode="auto">
          <a:xfrm>
            <a:off x="609585" y="4101207"/>
            <a:ext cx="342891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2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Aprobación humana formal por RRHH antes de consolidar.</a:t>
            </a:r>
            <a:endParaRPr lang="en-US" sz="1200"/>
          </a:p>
        </p:txBody>
      </p:sp>
      <p:sp>
        <p:nvSpPr>
          <p:cNvPr id="1379692179" name="Text 18"/>
          <p:cNvSpPr/>
          <p:nvPr/>
        </p:nvSpPr>
        <p:spPr bwMode="auto">
          <a:xfrm>
            <a:off x="4495688" y="332531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500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05</a:t>
            </a:r>
            <a:endParaRPr lang="en-US" sz="1500"/>
          </a:p>
        </p:txBody>
      </p:sp>
      <p:sp>
        <p:nvSpPr>
          <p:cNvPr id="97539882" name="Shape 19"/>
          <p:cNvSpPr/>
          <p:nvPr/>
        </p:nvSpPr>
        <p:spPr bwMode="auto">
          <a:xfrm>
            <a:off x="4495688" y="3592016"/>
            <a:ext cx="3200320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949053458" name="Text 20"/>
          <p:cNvSpPr/>
          <p:nvPr/>
        </p:nvSpPr>
        <p:spPr bwMode="auto">
          <a:xfrm>
            <a:off x="4495688" y="3693299"/>
            <a:ext cx="320032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CÁLCULO</a:t>
            </a:r>
            <a:endParaRPr lang="en-US" sz="1700"/>
          </a:p>
        </p:txBody>
      </p:sp>
      <p:sp>
        <p:nvSpPr>
          <p:cNvPr id="1517863852" name="Text 21"/>
          <p:cNvSpPr/>
          <p:nvPr/>
        </p:nvSpPr>
        <p:spPr bwMode="auto">
          <a:xfrm>
            <a:off x="4495688" y="4101207"/>
            <a:ext cx="3200320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2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Sueldo base, días asistidos, faltas, retardos y minutos netos.</a:t>
            </a:r>
            <a:endParaRPr lang="en-US" sz="1200"/>
          </a:p>
        </p:txBody>
      </p:sp>
      <p:sp>
        <p:nvSpPr>
          <p:cNvPr id="146499053" name="Text 22"/>
          <p:cNvSpPr/>
          <p:nvPr/>
        </p:nvSpPr>
        <p:spPr bwMode="auto">
          <a:xfrm>
            <a:off x="8153196" y="332531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1500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06</a:t>
            </a:r>
            <a:endParaRPr lang="en-US" sz="1500"/>
          </a:p>
        </p:txBody>
      </p:sp>
      <p:sp>
        <p:nvSpPr>
          <p:cNvPr id="714835028" name="Shape 23"/>
          <p:cNvSpPr/>
          <p:nvPr/>
        </p:nvSpPr>
        <p:spPr bwMode="auto">
          <a:xfrm>
            <a:off x="8153196" y="3592016"/>
            <a:ext cx="3428914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331332916" name="Text 24"/>
          <p:cNvSpPr/>
          <p:nvPr/>
        </p:nvSpPr>
        <p:spPr bwMode="auto">
          <a:xfrm>
            <a:off x="8153196" y="3693299"/>
            <a:ext cx="34289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CIERRE</a:t>
            </a:r>
            <a:endParaRPr lang="en-US" sz="1700"/>
          </a:p>
        </p:txBody>
      </p:sp>
      <p:sp>
        <p:nvSpPr>
          <p:cNvPr id="1183810278" name="Text 25"/>
          <p:cNvSpPr/>
          <p:nvPr/>
        </p:nvSpPr>
        <p:spPr bwMode="auto">
          <a:xfrm>
            <a:off x="8153196" y="4101207"/>
            <a:ext cx="3428914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2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Cierre de periodo inmutable y generación de reportes.</a:t>
            </a:r>
            <a:endParaRPr lang="en-US" sz="1200"/>
          </a:p>
        </p:txBody>
      </p:sp>
      <p:sp>
        <p:nvSpPr>
          <p:cNvPr id="34637873" name="Shape 26"/>
          <p:cNvSpPr/>
          <p:nvPr/>
        </p:nvSpPr>
        <p:spPr bwMode="auto">
          <a:xfrm>
            <a:off x="609585" y="5114925"/>
            <a:ext cx="38099" cy="1133475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218941648" name="Shape 27"/>
          <p:cNvSpPr/>
          <p:nvPr/>
        </p:nvSpPr>
        <p:spPr bwMode="auto">
          <a:xfrm>
            <a:off x="825479" y="5114925"/>
            <a:ext cx="6453919" cy="1133475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1508220517" name="Text 28"/>
          <p:cNvSpPr/>
          <p:nvPr/>
        </p:nvSpPr>
        <p:spPr bwMode="auto">
          <a:xfrm>
            <a:off x="1028674" y="5267325"/>
            <a:ext cx="604752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500" b="1" spc="37">
                <a:solidFill>
                  <a:srgbClr val="F2F0E8"/>
                </a:solidFill>
                <a:latin typeface="JetBrains Mono Bold"/>
                <a:ea typeface="JetBrains Mono Bold"/>
                <a:cs typeface="JetBrains Mono Bold"/>
              </a:rPr>
              <a:t>POLÍTICA DE CONTROL:</a:t>
            </a:r>
            <a:r>
              <a:rPr lang="en-US" sz="1500" spc="37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 Nada se descuenta automáticamente; la aprobación es estrictamente humana.</a:t>
            </a:r>
            <a:endParaRPr lang="en-US" sz="1500"/>
          </a:p>
        </p:txBody>
      </p:sp>
      <p:sp>
        <p:nvSpPr>
          <p:cNvPr id="185360171" name="Shape 29"/>
          <p:cNvSpPr/>
          <p:nvPr/>
        </p:nvSpPr>
        <p:spPr bwMode="auto">
          <a:xfrm>
            <a:off x="7279398" y="5114925"/>
            <a:ext cx="4302613" cy="1133475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301358507" name="Text 30"/>
          <p:cNvSpPr/>
          <p:nvPr/>
        </p:nvSpPr>
        <p:spPr bwMode="auto">
          <a:xfrm>
            <a:off x="7482593" y="5268278"/>
            <a:ext cx="389622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Hamelín RH no sustituye el timbrado de nómina CFDI.</a:t>
            </a:r>
            <a:endParaRPr lang="en-US" sz="1050"/>
          </a:p>
        </p:txBody>
      </p:sp>
      <p:sp>
        <p:nvSpPr>
          <p:cNvPr id="1561584414" name="Shape 31"/>
          <p:cNvSpPr/>
          <p:nvPr/>
        </p:nvSpPr>
        <p:spPr bwMode="auto">
          <a:xfrm>
            <a:off x="4260743" y="1650305"/>
            <a:ext cx="12700" cy="1446411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606424889" name="Shape 32"/>
          <p:cNvSpPr/>
          <p:nvPr/>
        </p:nvSpPr>
        <p:spPr bwMode="auto">
          <a:xfrm>
            <a:off x="7918252" y="1650305"/>
            <a:ext cx="12700" cy="1446411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5791119" name="Shape 33"/>
          <p:cNvSpPr/>
          <p:nvPr/>
        </p:nvSpPr>
        <p:spPr bwMode="auto">
          <a:xfrm>
            <a:off x="609585" y="3090366"/>
            <a:ext cx="3657509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610071893" name="Shape 34"/>
          <p:cNvSpPr/>
          <p:nvPr/>
        </p:nvSpPr>
        <p:spPr bwMode="auto">
          <a:xfrm>
            <a:off x="4260743" y="3096716"/>
            <a:ext cx="12700" cy="1446411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64790549" name="Shape 35"/>
          <p:cNvSpPr/>
          <p:nvPr/>
        </p:nvSpPr>
        <p:spPr bwMode="auto">
          <a:xfrm>
            <a:off x="4267093" y="3090366"/>
            <a:ext cx="3657509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319697952" name="Shape 36"/>
          <p:cNvSpPr/>
          <p:nvPr/>
        </p:nvSpPr>
        <p:spPr bwMode="auto">
          <a:xfrm>
            <a:off x="7918252" y="3096716"/>
            <a:ext cx="12700" cy="1446411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508415990" name="Shape 37"/>
          <p:cNvSpPr/>
          <p:nvPr/>
        </p:nvSpPr>
        <p:spPr bwMode="auto">
          <a:xfrm>
            <a:off x="7924602" y="3090366"/>
            <a:ext cx="3657509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886736561" name="Text 38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03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958693" name="Text 0"/>
          <p:cNvSpPr/>
          <p:nvPr/>
        </p:nvSpPr>
        <p:spPr bwMode="auto"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/motor/reglas-asistencia</a:t>
            </a:r>
            <a:endParaRPr lang="en-US" sz="1050"/>
          </a:p>
        </p:txBody>
      </p:sp>
      <p:sp>
        <p:nvSpPr>
          <p:cNvPr id="1200599301" name="Text 1"/>
          <p:cNvSpPr/>
          <p:nvPr/>
        </p:nvSpPr>
        <p:spPr bwMode="auto">
          <a:xfrm>
            <a:off x="609585" y="1150243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2800" spc="168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CADA RETARDO SE DETECTA CON SU REGLA VISIBLE</a:t>
            </a:r>
            <a:endParaRPr lang="en-US" sz="2800"/>
          </a:p>
        </p:txBody>
      </p:sp>
      <p:pic>
        <p:nvPicPr>
          <p:cNvPr id="101991240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585" y="1828105"/>
            <a:ext cx="6405700" cy="3524250"/>
          </a:xfrm>
          <a:prstGeom prst="rect">
            <a:avLst/>
          </a:prstGeom>
        </p:spPr>
      </p:pic>
      <p:sp>
        <p:nvSpPr>
          <p:cNvPr id="1527937491" name="Text 2"/>
          <p:cNvSpPr/>
          <p:nvPr/>
        </p:nvSpPr>
        <p:spPr bwMode="auto">
          <a:xfrm>
            <a:off x="7370876" y="1832392"/>
            <a:ext cx="4211234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050" spc="78">
                <a:solidFill>
                  <a:srgbClr val="B6E35A"/>
                </a:solidFill>
                <a:latin typeface="JetBrains Mono Medium"/>
                <a:ea typeface="JetBrains Mono Medium"/>
                <a:cs typeface="JetBrains Mono Medium"/>
              </a:rPr>
              <a:t>HORARIOS DE TURNO POR ÁREA</a:t>
            </a:r>
            <a:endParaRPr lang="en-US" sz="1050"/>
          </a:p>
        </p:txBody>
      </p:sp>
      <p:graphicFrame>
        <p:nvGraphicFramePr>
          <p:cNvPr id="101930139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7370876" y="2109391"/>
          <a:ext cx="4211235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95031"/>
                <a:gridCol w="2316204"/>
              </a:tblGrid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Administración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08:00 – 16:00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Ventas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09:00 – 17:00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Almacén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07:00 – 15:00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Reparto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06:30 – 14:30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Mantenimiento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08:30 – 16:30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85038445" name="Text 3"/>
          <p:cNvSpPr/>
          <p:nvPr/>
        </p:nvSpPr>
        <p:spPr bwMode="auto">
          <a:xfrm>
            <a:off x="7370876" y="4774168"/>
            <a:ext cx="42112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26">
                <a:solidFill>
                  <a:srgbClr val="F0C45A"/>
                </a:solidFill>
                <a:latin typeface="JetBrains Mono"/>
                <a:ea typeface="JetBrains Mono"/>
                <a:cs typeface="JetBrains Mono"/>
              </a:rPr>
              <a:t>TOLERANCIA ESTÁNDAR:</a:t>
            </a:r>
            <a:r>
              <a:rPr lang="en-US" sz="1050" spc="26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 10 minutos en todos los turnos</a:t>
            </a:r>
            <a:endParaRPr lang="en-US" sz="1050"/>
          </a:p>
        </p:txBody>
      </p:sp>
      <p:sp>
        <p:nvSpPr>
          <p:cNvPr id="1938696841" name="Shape 4"/>
          <p:cNvSpPr/>
          <p:nvPr/>
        </p:nvSpPr>
        <p:spPr bwMode="auto">
          <a:xfrm>
            <a:off x="7186730" y="1650305"/>
            <a:ext cx="12700" cy="38290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832597220" name="Text 5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04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455364" name="Text 0"/>
          <p:cNvSpPr/>
          <p:nvPr/>
        </p:nvSpPr>
        <p:spPr bwMode="auto"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/seguridad/roles-y-auditoria</a:t>
            </a:r>
            <a:endParaRPr lang="en-US" sz="1050"/>
          </a:p>
        </p:txBody>
      </p:sp>
      <p:sp>
        <p:nvSpPr>
          <p:cNvPr id="1994418829" name="Text 1"/>
          <p:cNvSpPr/>
          <p:nvPr/>
        </p:nvSpPr>
        <p:spPr bwMode="auto">
          <a:xfrm>
            <a:off x="609585" y="1150243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2800" spc="168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ROLES, SEGURIDAD Y AUDITORÍA</a:t>
            </a:r>
            <a:endParaRPr lang="en-US" sz="2800"/>
          </a:p>
        </p:txBody>
      </p:sp>
      <p:sp>
        <p:nvSpPr>
          <p:cNvPr id="1965661687" name="Text 2"/>
          <p:cNvSpPr/>
          <p:nvPr/>
        </p:nvSpPr>
        <p:spPr bwMode="auto">
          <a:xfrm>
            <a:off x="609585" y="1832392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050" spc="78">
                <a:solidFill>
                  <a:srgbClr val="5AD4E6"/>
                </a:solidFill>
                <a:latin typeface="JetBrains Mono Medium"/>
                <a:ea typeface="JetBrains Mono Medium"/>
                <a:cs typeface="JetBrains Mono Medium"/>
              </a:rPr>
              <a:t>MATRIZ DE PRIVILEGIOS</a:t>
            </a:r>
            <a:endParaRPr lang="en-US" sz="1050"/>
          </a:p>
        </p:txBody>
      </p:sp>
      <p:graphicFrame>
        <p:nvGraphicFramePr>
          <p:cNvPr id="10224951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585" y="2109391"/>
          <a:ext cx="5257669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102988"/>
                <a:gridCol w="3154681"/>
              </a:tblGrid>
              <a:tr h="89780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Administrador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Elimina empleados, crea usuarios, cierra periodos y acceso a Consulta BD.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89780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Recursos Humanos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Registra asistencia, gestiona justificantes, consulta reportes, panel y auditoría.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7827651" name="Text 3"/>
          <p:cNvSpPr/>
          <p:nvPr/>
        </p:nvSpPr>
        <p:spPr bwMode="auto">
          <a:xfrm>
            <a:off x="6324442" y="1832392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050" spc="78">
                <a:solidFill>
                  <a:srgbClr val="B6E35A"/>
                </a:solidFill>
                <a:latin typeface="JetBrains Mono Medium"/>
                <a:ea typeface="JetBrains Mono Medium"/>
                <a:cs typeface="JetBrains Mono Medium"/>
              </a:rPr>
              <a:t>SEGURIDAD Y PRIVACIDAD</a:t>
            </a:r>
            <a:endParaRPr lang="en-US" sz="1050"/>
          </a:p>
        </p:txBody>
      </p:sp>
      <p:graphicFrame>
        <p:nvGraphicFramePr>
          <p:cNvPr id="415690830" name="Table 1"/>
          <p:cNvGraphicFramePr>
            <a:graphicFrameLocks xmlns:a="http://schemas.openxmlformats.org/drawingml/2006/main" noGrp="1"/>
          </p:cNvGraphicFramePr>
          <p:nvPr/>
        </p:nvGraphicFramePr>
        <p:xfrm rot="0">
          <a:off x="6324442" y="2109391"/>
          <a:ext cx="5257669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997819"/>
                <a:gridCol w="3259850"/>
              </a:tblGrid>
              <a:tr h="89780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Criptografía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Hashes Argon2. Sin contraseñas por defecto; verificación estricta en servidor.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89780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Biometría local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Cero huellas ni plantillas biométricas en la base de datos central.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82650763" name="Shape 4"/>
          <p:cNvSpPr/>
          <p:nvPr/>
        </p:nvSpPr>
        <p:spPr bwMode="auto">
          <a:xfrm>
            <a:off x="609585" y="5552480"/>
            <a:ext cx="38099" cy="69592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365590489" name="Shape 5"/>
          <p:cNvSpPr/>
          <p:nvPr/>
        </p:nvSpPr>
        <p:spPr bwMode="auto">
          <a:xfrm>
            <a:off x="825479" y="5552480"/>
            <a:ext cx="10756631" cy="695920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1531436212" name="Text 6"/>
          <p:cNvSpPr/>
          <p:nvPr/>
        </p:nvSpPr>
        <p:spPr bwMode="auto">
          <a:xfrm>
            <a:off x="1028674" y="5679480"/>
            <a:ext cx="10350241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200" b="1" spc="30">
                <a:solidFill>
                  <a:srgbClr val="F2F0E8"/>
                </a:solidFill>
                <a:latin typeface="JetBrains Mono Bold"/>
                <a:ea typeface="JetBrains Mono Bold"/>
                <a:cs typeface="JetBrains Mono Bold"/>
              </a:rPr>
              <a:t>BITÁCORA DE AUDITORÍA (SOLO LECTURA):</a:t>
            </a:r>
            <a:r>
              <a:rPr lang="en-US" sz="1200" spc="3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 Registra de forma inalterable usuario, fecha y hora, operación ejecutada, entidad afectada, motivo y resultado.</a:t>
            </a:r>
            <a:endParaRPr lang="en-US" sz="1200"/>
          </a:p>
        </p:txBody>
      </p:sp>
      <p:sp>
        <p:nvSpPr>
          <p:cNvPr id="1895095198" name="Shape 7"/>
          <p:cNvSpPr/>
          <p:nvPr/>
        </p:nvSpPr>
        <p:spPr bwMode="auto">
          <a:xfrm>
            <a:off x="6089498" y="1650305"/>
            <a:ext cx="12700" cy="2432545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72613420" name="Text 8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05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193360" name="Text 0"/>
          <p:cNvSpPr/>
          <p:nvPr/>
        </p:nvSpPr>
        <p:spPr bwMode="auto"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/qa/reporte-pruebas · 100% aprobado</a:t>
            </a:r>
            <a:endParaRPr lang="en-US" sz="1050"/>
          </a:p>
        </p:txBody>
      </p:sp>
      <p:sp>
        <p:nvSpPr>
          <p:cNvPr id="2147026409" name="Text 1"/>
          <p:cNvSpPr/>
          <p:nvPr/>
        </p:nvSpPr>
        <p:spPr bwMode="auto">
          <a:xfrm>
            <a:off x="609585" y="1150243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2800" spc="168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15 DE 15 PRUEBAS APROBADAS Y UNA GUÍA PARA VALIDAR</a:t>
            </a:r>
            <a:endParaRPr lang="en-US" sz="2800"/>
          </a:p>
        </p:txBody>
      </p:sp>
      <p:pic>
        <p:nvPicPr>
          <p:cNvPr id="103706684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585" y="2532162"/>
            <a:ext cx="5597980" cy="2312194"/>
          </a:xfrm>
          <a:prstGeom prst="rect">
            <a:avLst/>
          </a:prstGeom>
        </p:spPr>
      </p:pic>
      <p:sp>
        <p:nvSpPr>
          <p:cNvPr id="831802215" name="Text 2"/>
          <p:cNvSpPr/>
          <p:nvPr/>
        </p:nvSpPr>
        <p:spPr bwMode="auto">
          <a:xfrm>
            <a:off x="609585" y="4918333"/>
            <a:ext cx="58519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26">
                <a:solidFill>
                  <a:srgbClr val="B6E35A"/>
                </a:solidFill>
                <a:latin typeface="JetBrains Mono"/>
                <a:ea typeface="JetBrains Mono"/>
                <a:cs typeface="JetBrains Mono"/>
              </a:rPr>
              <a:t>15/15 APROBADAS</a:t>
            </a:r>
            <a:r>
              <a:rPr lang="en-US" sz="1050" spc="26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 · 0 fallidas · 0 omitidas</a:t>
            </a:r>
            <a:endParaRPr lang="en-US" sz="1050"/>
          </a:p>
        </p:txBody>
      </p:sp>
      <p:graphicFrame>
        <p:nvGraphicFramePr>
          <p:cNvPr id="53148857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715552" y="2132905"/>
          <a:ext cx="4866558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946623"/>
                <a:gridCol w="2919935"/>
              </a:tblGrid>
              <a:tr h="676853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Prueba E2E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14 pasos de extremo a extremo completados con éxito.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676853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Población demo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86 empleados precargados para Cool Circle.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676853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Guía cliente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9 pruebas guiadas listas para validación en sitio.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1339717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Demostración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15 a 20 minutos: sesión, panel, empleados, asistencia, incidencias, justificantes, prenómina, reportes y auditoría.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8040012" name="Text 3"/>
          <p:cNvSpPr/>
          <p:nvPr/>
        </p:nvSpPr>
        <p:spPr bwMode="auto">
          <a:xfrm>
            <a:off x="609585" y="606272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52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&gt; entorno de prueba verificado y listo para validación por Cool Circle</a:t>
            </a:r>
            <a:endParaRPr lang="en-US" sz="1050"/>
          </a:p>
        </p:txBody>
      </p:sp>
      <p:sp>
        <p:nvSpPr>
          <p:cNvPr id="1247269661" name="Shape 4"/>
          <p:cNvSpPr/>
          <p:nvPr/>
        </p:nvSpPr>
        <p:spPr bwMode="auto">
          <a:xfrm>
            <a:off x="6455208" y="2005905"/>
            <a:ext cx="12700" cy="3624362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510153319" name="Text 5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06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41149" name="Text 0"/>
          <p:cNvSpPr/>
          <p:nvPr/>
        </p:nvSpPr>
        <p:spPr bwMode="auto">
          <a:xfrm>
            <a:off x="609585" y="4327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/propuesta/escenarios-adopcion</a:t>
            </a:r>
            <a:endParaRPr lang="en-US" sz="1050"/>
          </a:p>
        </p:txBody>
      </p:sp>
      <p:sp>
        <p:nvSpPr>
          <p:cNvPr id="1820501513" name="Text 1"/>
          <p:cNvSpPr/>
          <p:nvPr/>
        </p:nvSpPr>
        <p:spPr bwMode="auto">
          <a:xfrm>
            <a:off x="609585" y="972443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2800" spc="168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DOS ESCENARIOS: SOLO SOFTWARE O IMPLEMENTACIÓN COMPLETA</a:t>
            </a:r>
            <a:endParaRPr lang="en-US" sz="2800"/>
          </a:p>
        </p:txBody>
      </p:sp>
      <p:sp>
        <p:nvSpPr>
          <p:cNvPr id="908061706" name="Text 2"/>
          <p:cNvSpPr/>
          <p:nvPr/>
        </p:nvSpPr>
        <p:spPr bwMode="auto">
          <a:xfrm>
            <a:off x="609585" y="2035592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050" spc="78">
                <a:solidFill>
                  <a:srgbClr val="5AD4E6"/>
                </a:solidFill>
                <a:latin typeface="JetBrains Mono Medium"/>
                <a:ea typeface="JetBrains Mono Medium"/>
                <a:cs typeface="JetBrains Mono Medium"/>
              </a:rPr>
              <a:t>ESCENARIO A</a:t>
            </a:r>
            <a:endParaRPr lang="en-US" sz="1050"/>
          </a:p>
        </p:txBody>
      </p:sp>
      <p:sp>
        <p:nvSpPr>
          <p:cNvPr id="1160702545" name="Text 3"/>
          <p:cNvSpPr/>
          <p:nvPr/>
        </p:nvSpPr>
        <p:spPr bwMode="auto">
          <a:xfrm>
            <a:off x="609585" y="2291001"/>
            <a:ext cx="518147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21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SOLO SOFTWARE</a:t>
            </a:r>
            <a:endParaRPr lang="en-US" sz="2100"/>
          </a:p>
        </p:txBody>
      </p:sp>
      <p:graphicFrame>
        <p:nvGraphicFramePr>
          <p:cNvPr id="83305544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585" y="2751336"/>
          <a:ext cx="518147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968450"/>
                <a:gridCol w="3213020"/>
              </a:tblGrid>
              <a:tr h="713563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Infraestructura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Instalación en equipos del cliente</a:t>
                      </a:r>
                      <a:endParaRPr lang="en-US" sz="13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Plazo entrega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4 a 6 semanas</a:t>
                      </a:r>
                      <a:endParaRPr lang="en-US" sz="13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Inversión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5AD4E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$440,800 MXN</a:t>
                      </a:r>
                      <a:r>
                        <a:rPr lang="en-US" sz="1300" b="1">
                          <a:solidFill>
                            <a:srgbClr val="5AD4E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 (con IVA)</a:t>
                      </a:r>
                      <a:endParaRPr lang="en-US" sz="13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5804241" name="Text 4"/>
          <p:cNvSpPr/>
          <p:nvPr/>
        </p:nvSpPr>
        <p:spPr bwMode="auto">
          <a:xfrm>
            <a:off x="6400640" y="2035592"/>
            <a:ext cx="518147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050" spc="78">
                <a:solidFill>
                  <a:srgbClr val="B6E35A"/>
                </a:solidFill>
                <a:latin typeface="JetBrains Mono Medium"/>
                <a:ea typeface="JetBrains Mono Medium"/>
                <a:cs typeface="JetBrains Mono Medium"/>
              </a:rPr>
              <a:t>ESCENARIO B · LLAVE EN MANO</a:t>
            </a:r>
            <a:endParaRPr lang="en-US" sz="1050"/>
          </a:p>
        </p:txBody>
      </p:sp>
      <p:sp>
        <p:nvSpPr>
          <p:cNvPr id="612364606" name="Text 5"/>
          <p:cNvSpPr/>
          <p:nvPr/>
        </p:nvSpPr>
        <p:spPr bwMode="auto">
          <a:xfrm>
            <a:off x="6400640" y="2291001"/>
            <a:ext cx="518147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21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IMPLEMENTACIÓN COMPLETA</a:t>
            </a:r>
            <a:endParaRPr lang="en-US" sz="2100"/>
          </a:p>
        </p:txBody>
      </p:sp>
      <p:graphicFrame>
        <p:nvGraphicFramePr>
          <p:cNvPr id="1898205032" name="Table 1"/>
          <p:cNvGraphicFramePr>
            <a:graphicFrameLocks xmlns:a="http://schemas.openxmlformats.org/drawingml/2006/main" noGrp="1"/>
          </p:cNvGraphicFramePr>
          <p:nvPr/>
        </p:nvGraphicFramePr>
        <p:xfrm rot="0">
          <a:off x="6400640" y="2751336"/>
          <a:ext cx="518147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65266"/>
                <a:gridCol w="3316205"/>
              </a:tblGrid>
              <a:tr h="952873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Equipamiento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Software, servidor, 5 estaciones, 7 terminales, red, UPS y respaldo</a:t>
                      </a:r>
                      <a:endParaRPr lang="en-US" sz="13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Plazo entrega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8 a 12 semanas</a:t>
                      </a:r>
                      <a:endParaRPr lang="en-US" sz="13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Soporte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Soporte prioritario y en sitio</a:t>
                      </a:r>
                      <a:endParaRPr lang="en-US" sz="13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Inversión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B6E35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$697,740 MXN</a:t>
                      </a:r>
                      <a:r>
                        <a:rPr lang="en-US" sz="1300" b="1">
                          <a:solidFill>
                            <a:srgbClr val="B6E35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 (con IVA)</a:t>
                      </a:r>
                      <a:endParaRPr lang="en-US" sz="13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17644050" name="Shape 6"/>
          <p:cNvSpPr/>
          <p:nvPr/>
        </p:nvSpPr>
        <p:spPr bwMode="auto">
          <a:xfrm>
            <a:off x="609585" y="6078240"/>
            <a:ext cx="38099" cy="47496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752075408" name="Shape 7"/>
          <p:cNvSpPr/>
          <p:nvPr/>
        </p:nvSpPr>
        <p:spPr bwMode="auto">
          <a:xfrm>
            <a:off x="825479" y="6078240"/>
            <a:ext cx="10756631" cy="474960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1704513817" name="Text 8"/>
          <p:cNvSpPr/>
          <p:nvPr/>
        </p:nvSpPr>
        <p:spPr bwMode="auto">
          <a:xfrm>
            <a:off x="1028674" y="6205240"/>
            <a:ext cx="1055343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200" b="1" spc="30">
                <a:solidFill>
                  <a:srgbClr val="F2F0E8"/>
                </a:solidFill>
                <a:latin typeface="JetBrains Mono Bold"/>
                <a:ea typeface="JetBrains Mono Bold"/>
                <a:cs typeface="JetBrains Mono Bold"/>
              </a:rPr>
              <a:t>COMPARACIÓN:</a:t>
            </a:r>
            <a:r>
              <a:rPr lang="en-US" sz="1200" spc="3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 A, 4 a 6 semanas; B, 8 a 12 semanas.</a:t>
            </a:r>
            <a:endParaRPr lang="en-US" sz="1200"/>
          </a:p>
        </p:txBody>
      </p:sp>
      <p:sp>
        <p:nvSpPr>
          <p:cNvPr id="50940638" name="Shape 9"/>
          <p:cNvSpPr/>
          <p:nvPr/>
        </p:nvSpPr>
        <p:spPr bwMode="auto">
          <a:xfrm>
            <a:off x="6089498" y="1828105"/>
            <a:ext cx="12700" cy="4085034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516567347" name="Text 10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07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374213" name="Text 0"/>
          <p:cNvSpPr/>
          <p:nvPr/>
        </p:nvSpPr>
        <p:spPr bwMode="auto">
          <a:xfrm>
            <a:off x="609585" y="649288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2800" spc="168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INVERSIÓN POR ESCENARIO, EN PESOS MEXICANOS</a:t>
            </a:r>
            <a:endParaRPr lang="en-US" sz="2800"/>
          </a:p>
        </p:txBody>
      </p:sp>
      <p:graphicFrame>
        <p:nvGraphicFramePr>
          <p:cNvPr id="166683054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585" y="1149350"/>
          <a:ext cx="10972526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388931"/>
                <a:gridCol w="3291698"/>
                <a:gridCol w="3291896"/>
              </a:tblGrid>
              <a:tr h="51116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spc="9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CONCEPTO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spc="9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ESCENARIO A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spc="9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ESCENARIO B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106359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Desarrollo y licencia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Instalación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Capacitación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$250,000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$25,000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$20,000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$250,000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$45,000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$35,000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78738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Mantenimiento 12 meses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Soporte 12 meses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$50,000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$35,000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$65,000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$50,000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78738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Equipos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Biométricos (opcional)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$144,500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$12,000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78738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 spc="37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Subtotal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 b="1" spc="37">
                          <a:solidFill>
                            <a:srgbClr val="B6E35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Total con IVA (16%)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 spc="37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$380,000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 b="1" spc="37">
                          <a:solidFill>
                            <a:srgbClr val="5AD4E6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$440,800 MXN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 spc="37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$601,500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  <a:p>
                      <a:pPr marL="0" indent="0" algn="l">
                        <a:buNone/>
                        <a:defRPr/>
                      </a:pPr>
                      <a:r>
                        <a:rPr lang="en-US" sz="1500" b="1" spc="37">
                          <a:solidFill>
                            <a:srgbClr val="B6E35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$697,740 MXN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44557269" name="Text 1"/>
          <p:cNvSpPr/>
          <p:nvPr/>
        </p:nvSpPr>
        <p:spPr bwMode="auto">
          <a:xfrm>
            <a:off x="609585" y="525240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Los precios de equipos son estimaciones por cotizar con proveedores locales.</a:t>
            </a:r>
            <a:endParaRPr lang="en-US" sz="1050"/>
          </a:p>
        </p:txBody>
      </p:sp>
      <p:sp>
        <p:nvSpPr>
          <p:cNvPr id="600651621" name="Text 2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08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384879" name="Shape 0"/>
          <p:cNvSpPr/>
          <p:nvPr/>
        </p:nvSpPr>
        <p:spPr bwMode="auto">
          <a:xfrm>
            <a:off x="0" y="0"/>
            <a:ext cx="12191695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549268571" name="Shape 1"/>
          <p:cNvSpPr/>
          <p:nvPr/>
        </p:nvSpPr>
        <p:spPr bwMode="auto">
          <a:xfrm>
            <a:off x="0" y="6851650"/>
            <a:ext cx="12191695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96061213" name="Text 2"/>
          <p:cNvSpPr/>
          <p:nvPr/>
        </p:nvSpPr>
        <p:spPr bwMode="auto">
          <a:xfrm>
            <a:off x="609585" y="15970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  <a:defRPr/>
            </a:pPr>
            <a:r>
              <a:rPr lang="en-US" sz="1050" spc="10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/hitos/condiciones-comerciales</a:t>
            </a:r>
            <a:endParaRPr lang="en-US" sz="1050"/>
          </a:p>
        </p:txBody>
      </p:sp>
      <p:sp>
        <p:nvSpPr>
          <p:cNvPr id="412229056" name="Text 3"/>
          <p:cNvSpPr/>
          <p:nvPr/>
        </p:nvSpPr>
        <p:spPr bwMode="auto">
          <a:xfrm>
            <a:off x="609585" y="699393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  <a:defRPr/>
            </a:pPr>
            <a:r>
              <a:rPr lang="en-US" sz="2800" spc="168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PAGO EN TRES HITOS Y LO QUE AÚN NO INCLUYE</a:t>
            </a:r>
            <a:endParaRPr lang="en-US" sz="2800"/>
          </a:p>
        </p:txBody>
      </p:sp>
      <p:sp>
        <p:nvSpPr>
          <p:cNvPr id="167418804" name="Shape 4"/>
          <p:cNvSpPr/>
          <p:nvPr/>
        </p:nvSpPr>
        <p:spPr bwMode="auto">
          <a:xfrm>
            <a:off x="609585" y="2699246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191919"/>
          </a:solidFill>
          <a:ln/>
        </p:spPr>
      </p:sp>
      <p:sp>
        <p:nvSpPr>
          <p:cNvPr id="1844777956" name="Shape 5"/>
          <p:cNvSpPr/>
          <p:nvPr/>
        </p:nvSpPr>
        <p:spPr bwMode="auto">
          <a:xfrm>
            <a:off x="3278899" y="2318246"/>
            <a:ext cx="28574" cy="381000"/>
          </a:xfrm>
          <a:prstGeom prst="roundRect">
            <a:avLst>
              <a:gd name="adj" fmla="val 40000"/>
            </a:avLst>
          </a:prstGeom>
          <a:solidFill>
            <a:srgbClr val="191919"/>
          </a:solidFill>
          <a:ln/>
        </p:spPr>
      </p:sp>
      <p:sp>
        <p:nvSpPr>
          <p:cNvPr id="1135924563" name="Shape 6"/>
          <p:cNvSpPr/>
          <p:nvPr/>
        </p:nvSpPr>
        <p:spPr bwMode="auto">
          <a:xfrm>
            <a:off x="3221751" y="2627809"/>
            <a:ext cx="142871" cy="142875"/>
          </a:xfrm>
          <a:prstGeom prst="ellipse">
            <a:avLst/>
          </a:prstGeom>
          <a:solidFill>
            <a:srgbClr val="B6E35A"/>
          </a:solidFill>
          <a:ln/>
        </p:spPr>
      </p:sp>
      <p:sp>
        <p:nvSpPr>
          <p:cNvPr id="609399144" name="Text 7"/>
          <p:cNvSpPr/>
          <p:nvPr/>
        </p:nvSpPr>
        <p:spPr bwMode="auto">
          <a:xfrm>
            <a:off x="800080" y="1180405"/>
            <a:ext cx="498621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  <a:defRPr/>
            </a:pPr>
            <a:r>
              <a:rPr lang="en-US" sz="1700" spc="102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30% · AL INICIO</a:t>
            </a:r>
            <a:endParaRPr lang="en-US" sz="1700"/>
          </a:p>
        </p:txBody>
      </p:sp>
      <p:sp>
        <p:nvSpPr>
          <p:cNvPr id="716325954" name="Text 8"/>
          <p:cNvSpPr/>
          <p:nvPr/>
        </p:nvSpPr>
        <p:spPr bwMode="auto">
          <a:xfrm>
            <a:off x="800080" y="1575296"/>
            <a:ext cx="49862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  <a:defRPr/>
            </a:pPr>
            <a:r>
              <a:rPr lang="en-US" sz="15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Firma de contrato y arranque de arquitectura.</a:t>
            </a:r>
            <a:endParaRPr lang="en-US" sz="1500"/>
          </a:p>
        </p:txBody>
      </p:sp>
      <p:sp>
        <p:nvSpPr>
          <p:cNvPr id="294940885" name="Shape 9"/>
          <p:cNvSpPr/>
          <p:nvPr/>
        </p:nvSpPr>
        <p:spPr bwMode="auto">
          <a:xfrm>
            <a:off x="6081559" y="2699246"/>
            <a:ext cx="28574" cy="381000"/>
          </a:xfrm>
          <a:prstGeom prst="roundRect">
            <a:avLst>
              <a:gd name="adj" fmla="val 40000"/>
            </a:avLst>
          </a:prstGeom>
          <a:solidFill>
            <a:srgbClr val="191919"/>
          </a:solidFill>
          <a:ln/>
        </p:spPr>
      </p:sp>
      <p:sp>
        <p:nvSpPr>
          <p:cNvPr id="28630016" name="Shape 10"/>
          <p:cNvSpPr/>
          <p:nvPr/>
        </p:nvSpPr>
        <p:spPr bwMode="auto">
          <a:xfrm>
            <a:off x="6024412" y="2627809"/>
            <a:ext cx="142871" cy="142875"/>
          </a:xfrm>
          <a:prstGeom prst="ellipse">
            <a:avLst/>
          </a:prstGeom>
          <a:solidFill>
            <a:srgbClr val="B6E35A"/>
          </a:solidFill>
          <a:ln/>
        </p:spPr>
      </p:sp>
      <p:sp>
        <p:nvSpPr>
          <p:cNvPr id="178556962" name="Text 11"/>
          <p:cNvSpPr/>
          <p:nvPr/>
        </p:nvSpPr>
        <p:spPr bwMode="auto">
          <a:xfrm>
            <a:off x="3602741" y="3270746"/>
            <a:ext cx="498621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  <a:defRPr/>
            </a:pPr>
            <a:r>
              <a:rPr lang="en-US" sz="1700" spc="102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40% · ENTORNO FUNCIONAL</a:t>
            </a:r>
            <a:endParaRPr lang="en-US" sz="1700"/>
          </a:p>
        </p:txBody>
      </p:sp>
      <p:sp>
        <p:nvSpPr>
          <p:cNvPr id="1863026732" name="Text 12"/>
          <p:cNvSpPr/>
          <p:nvPr/>
        </p:nvSpPr>
        <p:spPr bwMode="auto">
          <a:xfrm>
            <a:off x="3602741" y="3665637"/>
            <a:ext cx="49862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  <a:defRPr/>
            </a:pPr>
            <a:r>
              <a:rPr lang="en-US" sz="15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Entrega del sistema operativo listo para validación.</a:t>
            </a:r>
            <a:endParaRPr lang="en-US" sz="1500"/>
          </a:p>
        </p:txBody>
      </p:sp>
      <p:sp>
        <p:nvSpPr>
          <p:cNvPr id="1358036400" name="Shape 13"/>
          <p:cNvSpPr/>
          <p:nvPr/>
        </p:nvSpPr>
        <p:spPr bwMode="auto">
          <a:xfrm>
            <a:off x="8884221" y="2318246"/>
            <a:ext cx="28574" cy="381000"/>
          </a:xfrm>
          <a:prstGeom prst="roundRect">
            <a:avLst>
              <a:gd name="adj" fmla="val 40000"/>
            </a:avLst>
          </a:prstGeom>
          <a:solidFill>
            <a:srgbClr val="191919"/>
          </a:solidFill>
          <a:ln/>
        </p:spPr>
      </p:sp>
      <p:sp>
        <p:nvSpPr>
          <p:cNvPr id="565093884" name="Shape 14"/>
          <p:cNvSpPr/>
          <p:nvPr/>
        </p:nvSpPr>
        <p:spPr bwMode="auto">
          <a:xfrm>
            <a:off x="8827073" y="2627809"/>
            <a:ext cx="142871" cy="142875"/>
          </a:xfrm>
          <a:prstGeom prst="ellipse">
            <a:avLst/>
          </a:prstGeom>
          <a:solidFill>
            <a:srgbClr val="B6E35A"/>
          </a:solidFill>
          <a:ln/>
        </p:spPr>
      </p:sp>
      <p:sp>
        <p:nvSpPr>
          <p:cNvPr id="1420686107" name="Text 15"/>
          <p:cNvSpPr/>
          <p:nvPr/>
        </p:nvSpPr>
        <p:spPr bwMode="auto">
          <a:xfrm>
            <a:off x="6405402" y="1180405"/>
            <a:ext cx="498621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  <a:defRPr/>
            </a:pPr>
            <a:r>
              <a:rPr lang="en-US" sz="1700" spc="102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30% · CIERRE</a:t>
            </a:r>
            <a:endParaRPr lang="en-US" sz="1700"/>
          </a:p>
        </p:txBody>
      </p:sp>
      <p:sp>
        <p:nvSpPr>
          <p:cNvPr id="264883272" name="Text 16"/>
          <p:cNvSpPr/>
          <p:nvPr/>
        </p:nvSpPr>
        <p:spPr bwMode="auto">
          <a:xfrm>
            <a:off x="6405402" y="1575296"/>
            <a:ext cx="49862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  <a:defRPr/>
            </a:pPr>
            <a:r>
              <a:rPr lang="en-US" sz="15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Capacitación concluida y aceptación formal firmada.</a:t>
            </a:r>
            <a:endParaRPr lang="en-US" sz="1500"/>
          </a:p>
        </p:txBody>
      </p:sp>
      <p:graphicFrame>
        <p:nvGraphicFramePr>
          <p:cNvPr id="72945236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585" y="4370487"/>
          <a:ext cx="10972526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291698"/>
                <a:gridCol w="7680828"/>
              </a:tblGrid>
              <a:tr h="676853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B6E35A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TÉRMINOS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Garantía de 90 días naturales posteriores al cierre · Cotización vigente por 30 días.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121417"/>
                      </a:solidFill>
                    </a:lnT>
                    <a:lnB w="12700" algn="ctr">
                      <a:solidFill>
                        <a:srgbClr val="4A5158"/>
                      </a:solidFill>
                    </a:lnB>
                  </a:tcPr>
                </a:tc>
              </a:tr>
              <a:tr h="676853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5C9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FUERA DE ALCANCE</a:t>
                      </a:r>
                      <a:endParaRPr lang="en-US" sz="15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Lector biométrico físico real, modo sin conexión, exportación PDF, instalador .exe Windows, descuentos automáticos y timbrado CFDI de nómina.</a:t>
                      </a:r>
                      <a:endParaRPr lang="en-US" sz="1200">
                        <a:latin typeface="JetBrains Mono"/>
                        <a:ea typeface="JetBrains Mono"/>
                        <a:cs typeface="JetBrains Mono"/>
                      </a:endParaRPr>
                    </a:p>
                  </a:txBody>
                  <a:tcPr marL="126997" marR="126997" marT="114297" marB="114297" anchor="ctr">
                    <a:lnL w="12700" algn="ctr">
                      <a:solidFill>
                        <a:srgbClr val="121417"/>
                      </a:solidFill>
                    </a:lnL>
                    <a:lnR w="12700" algn="ctr">
                      <a:solidFill>
                        <a:srgbClr val="121417"/>
                      </a:solidFill>
                    </a:lnR>
                    <a:lnT w="12700" algn="ctr">
                      <a:solidFill>
                        <a:srgbClr val="4A5158"/>
                      </a:solidFill>
                    </a:lnT>
                    <a:lnB w="12700" algn="ctr">
                      <a:solidFill>
                        <a:srgbClr val="12141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38878461" name="Text 17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09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93502" name="Text 0"/>
          <p:cNvSpPr/>
          <p:nvPr/>
        </p:nvSpPr>
        <p:spPr bwMode="auto">
          <a:xfrm>
            <a:off x="609585" y="583501"/>
            <a:ext cx="7213420" cy="7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0000"/>
              </a:lnSpc>
              <a:buNone/>
              <a:defRPr/>
            </a:pPr>
            <a:r>
              <a:rPr lang="en-US" sz="3200" spc="191">
                <a:solidFill>
                  <a:srgbClr val="F2F0E8"/>
                </a:solidFill>
                <a:latin typeface="JetBrains Mono SemiBold"/>
                <a:ea typeface="JetBrains Mono SemiBold"/>
                <a:cs typeface="JetBrains Mono SemiBold"/>
              </a:rPr>
              <a:t>SIGUIENTES PASOS PARA ACEPTAR HAMELÍN RH </a:t>
            </a:r>
            <a:r>
              <a:rPr lang="en-US" sz="3200" spc="191">
                <a:solidFill>
                  <a:srgbClr val="B6E35A"/>
                </a:solidFill>
                <a:latin typeface="JetBrains Mono SemiBold"/>
                <a:ea typeface="JetBrains Mono SemiBold"/>
                <a:cs typeface="JetBrains Mono SemiBold"/>
              </a:rPr>
              <a:t>█</a:t>
            </a:r>
            <a:endParaRPr lang="en-US" sz="3200"/>
          </a:p>
        </p:txBody>
      </p:sp>
      <p:pic>
        <p:nvPicPr>
          <p:cNvPr id="93194026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585" y="1491456"/>
            <a:ext cx="380990" cy="381000"/>
          </a:xfrm>
          <a:prstGeom prst="rect">
            <a:avLst/>
          </a:prstGeom>
        </p:spPr>
      </p:pic>
      <p:sp>
        <p:nvSpPr>
          <p:cNvPr id="1553047412" name="Text 1"/>
          <p:cNvSpPr/>
          <p:nvPr/>
        </p:nvSpPr>
        <p:spPr bwMode="auto">
          <a:xfrm>
            <a:off x="1181070" y="1497489"/>
            <a:ext cx="664193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VALIDACIÓN EN SITIO</a:t>
            </a:r>
            <a:endParaRPr lang="en-US" sz="1700"/>
          </a:p>
        </p:txBody>
      </p:sp>
      <p:sp>
        <p:nvSpPr>
          <p:cNvPr id="1048732478" name="Text 2"/>
          <p:cNvSpPr/>
          <p:nvPr/>
        </p:nvSpPr>
        <p:spPr bwMode="auto">
          <a:xfrm>
            <a:off x="1181070" y="1905396"/>
            <a:ext cx="664193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5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Ejecutar la guía de pruebas y firmar la aceptación</a:t>
            </a:r>
            <a:endParaRPr lang="en-US" sz="1500"/>
          </a:p>
        </p:txBody>
      </p:sp>
      <p:pic>
        <p:nvPicPr>
          <p:cNvPr id="26375287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85" y="2486422"/>
            <a:ext cx="380990" cy="381000"/>
          </a:xfrm>
          <a:prstGeom prst="rect">
            <a:avLst/>
          </a:prstGeom>
        </p:spPr>
      </p:pic>
      <p:sp>
        <p:nvSpPr>
          <p:cNvPr id="1607258902" name="Text 3"/>
          <p:cNvSpPr/>
          <p:nvPr/>
        </p:nvSpPr>
        <p:spPr bwMode="auto">
          <a:xfrm>
            <a:off x="1181070" y="2492454"/>
            <a:ext cx="664193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DEFINICIÓN DE ESCENARIO</a:t>
            </a:r>
            <a:endParaRPr lang="en-US" sz="1700"/>
          </a:p>
        </p:txBody>
      </p:sp>
      <p:sp>
        <p:nvSpPr>
          <p:cNvPr id="1737413400" name="Text 4"/>
          <p:cNvSpPr/>
          <p:nvPr/>
        </p:nvSpPr>
        <p:spPr bwMode="auto">
          <a:xfrm>
            <a:off x="1181070" y="2900363"/>
            <a:ext cx="664193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5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Elegir escenario A o B</a:t>
            </a:r>
            <a:endParaRPr lang="en-US" sz="1500"/>
          </a:p>
        </p:txBody>
      </p:sp>
      <p:pic>
        <p:nvPicPr>
          <p:cNvPr id="2089964548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9585" y="3481388"/>
            <a:ext cx="380990" cy="381000"/>
          </a:xfrm>
          <a:prstGeom prst="rect">
            <a:avLst/>
          </a:prstGeom>
        </p:spPr>
      </p:pic>
      <p:sp>
        <p:nvSpPr>
          <p:cNvPr id="1082452556" name="Text 5"/>
          <p:cNvSpPr/>
          <p:nvPr/>
        </p:nvSpPr>
        <p:spPr bwMode="auto">
          <a:xfrm>
            <a:off x="1181070" y="3487420"/>
            <a:ext cx="664193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REGLAS DE NÓMINA</a:t>
            </a:r>
            <a:endParaRPr lang="en-US" sz="1700"/>
          </a:p>
        </p:txBody>
      </p:sp>
      <p:sp>
        <p:nvSpPr>
          <p:cNvPr id="1231399022" name="Text 6"/>
          <p:cNvSpPr/>
          <p:nvPr/>
        </p:nvSpPr>
        <p:spPr bwMode="auto">
          <a:xfrm>
            <a:off x="1181070" y="3895328"/>
            <a:ext cx="664193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5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Validar periodicidad de sueldos y políticas de nómina</a:t>
            </a:r>
            <a:endParaRPr lang="en-US" sz="1500"/>
          </a:p>
        </p:txBody>
      </p:sp>
      <p:pic>
        <p:nvPicPr>
          <p:cNvPr id="519188487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09585" y="4476353"/>
            <a:ext cx="380990" cy="381000"/>
          </a:xfrm>
          <a:prstGeom prst="rect">
            <a:avLst/>
          </a:prstGeom>
        </p:spPr>
      </p:pic>
      <p:sp>
        <p:nvSpPr>
          <p:cNvPr id="1596689207" name="Text 7"/>
          <p:cNvSpPr/>
          <p:nvPr/>
        </p:nvSpPr>
        <p:spPr bwMode="auto">
          <a:xfrm>
            <a:off x="1181070" y="4482386"/>
            <a:ext cx="664193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1700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</a:rPr>
              <a:t>CONTRATO Y ARRANQUE</a:t>
            </a:r>
            <a:endParaRPr lang="en-US" sz="1700"/>
          </a:p>
        </p:txBody>
      </p:sp>
      <p:sp>
        <p:nvSpPr>
          <p:cNvPr id="2129713454" name="Text 8"/>
          <p:cNvSpPr/>
          <p:nvPr/>
        </p:nvSpPr>
        <p:spPr bwMode="auto">
          <a:xfrm>
            <a:off x="1181070" y="4890294"/>
            <a:ext cx="664193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500">
                <a:solidFill>
                  <a:srgbClr val="F2F0E8"/>
                </a:solidFill>
                <a:latin typeface="JetBrains Mono"/>
                <a:ea typeface="JetBrains Mono"/>
                <a:cs typeface="JetBrains Mono"/>
              </a:rPr>
              <a:t>Confirmar alcance y arrancar con el primer pago del 30%</a:t>
            </a:r>
            <a:endParaRPr lang="en-US" sz="1500"/>
          </a:p>
        </p:txBody>
      </p:sp>
      <p:sp>
        <p:nvSpPr>
          <p:cNvPr id="971711821" name="Text 9"/>
          <p:cNvSpPr/>
          <p:nvPr/>
        </p:nvSpPr>
        <p:spPr bwMode="auto">
          <a:xfrm>
            <a:off x="11408680" y="6494661"/>
            <a:ext cx="783015" cy="193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  <a:defRPr/>
            </a:pPr>
            <a:r>
              <a:rPr lang="en-US" sz="1050" spc="52">
                <a:solidFill>
                  <a:srgbClr val="899198"/>
                </a:solidFill>
                <a:latin typeface="JetBrains Mono"/>
                <a:ea typeface="JetBrains Mono"/>
                <a:cs typeface="JetBrains Mono"/>
              </a:rPr>
              <a:t>10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2026-10-19T03:01:37Z</dcterms:created>
  <dcterms:modified xsi:type="dcterms:W3CDTF">2026-10-19T03:47:51Z</dcterms:modified>
</cp:coreProperties>
</file>